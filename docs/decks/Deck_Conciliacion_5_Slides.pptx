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que el problema real es la revisión manual. Dar un ejemplo de referencia con espacios y un duplicado. No prometer cero errores: prometer excepciones separadas.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Recorrer el flujo de izquierda a derecha. Enfatizar la normalización y el merge outer. Aclarar que el reporte es para revisión humana.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Leer los cuatro números. Explicar que 8 diferencias son el foco del revisor. Mencionar 58 errores plantados, 6 referencias sospechosas y 2 inválidas no detectadas.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Cerrar con una reflexión: el valor está en el criterio y la documentación, no solo en el código. Mencionar una limitación real y el siguiente paso.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FC3D9"/>
                </a:solidFill>
                <a:latin typeface="Arial"/>
              </a:rPr>
              <a:t>PORTAFOLIO CONTABLE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07899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200" b="1">
                <a:solidFill>
                  <a:srgbClr val="FFFFFF"/>
                </a:solidFill>
                <a:latin typeface="Arial"/>
              </a:rPr>
              <a:t>Conciliación bancaria automatizada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24612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D7E3EF"/>
                </a:solidFill>
                <a:latin typeface="Arial"/>
              </a:rPr>
              <a:t>De 240 filas a 8 excepciones concretas para revisión humana.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370832"/>
            <a:ext cx="2743200" cy="987552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449884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Arial"/>
              </a:rPr>
              <a:t>120 + 120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498348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B9CBE0"/>
                </a:solidFill>
                <a:latin typeface="Arial"/>
              </a:rPr>
              <a:t>TRANSACCIONES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30168" y="4370832"/>
            <a:ext cx="2743200" cy="987552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13048" y="449884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3048" y="498348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B9CBE0"/>
                </a:solidFill>
                <a:latin typeface="Arial"/>
              </a:rPr>
              <a:t>ERRORES PLANTADOS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01968" y="4370832"/>
            <a:ext cx="2743200" cy="987552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84848" y="449884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Arial"/>
              </a:rPr>
              <a:t>~1,4 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498348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B9CBE0"/>
                </a:solidFill>
                <a:latin typeface="Arial"/>
              </a:rPr>
              <a:t>EJECUCIÓN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80644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D7E3EF"/>
                </a:solidFill>
                <a:latin typeface="Arial"/>
              </a:rPr>
              <a:t>Kelvis Samir Copete Córdoba · Tecnología en Análisis de Costos y Presupuestos · ITM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17220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9FC3D9"/>
                </a:solidFill>
                <a:latin typeface="Arial"/>
              </a:rPr>
              <a:t>github.com/Samircopete12/conciliacion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09728" cy="674827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8961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C9A227"/>
                </a:solidFill>
                <a:latin typeface="Arial"/>
              </a:rPr>
              <a:t>01 /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6324F"/>
                </a:solidFill>
                <a:latin typeface="Arial"/>
              </a:rPr>
              <a:t>La conciliación manual no escala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61872"/>
            <a:ext cx="128016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F6F7F"/>
                </a:solidFill>
                <a:latin typeface="Arial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46520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F6F7F"/>
                </a:solidFill>
                <a:latin typeface="Arial"/>
              </a:rPr>
              <a:t>Kelvis Samir Copete Córdoba · Portafolio contable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572768"/>
            <a:ext cx="576072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 b="1">
                <a:solidFill>
                  <a:srgbClr val="2A7F8F"/>
                </a:solidFill>
                <a:latin typeface="Arial"/>
              </a:rPr>
              <a:t>•  </a:t>
            </a:r>
            <a:r>
              <a:rPr sz="1600">
                <a:solidFill>
                  <a:srgbClr val="1F2933"/>
                </a:solidFill>
                <a:latin typeface="Arial"/>
              </a:rPr>
              <a:t>120 transacciones en el libro y 120 en el extracto.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 b="1">
                <a:solidFill>
                  <a:srgbClr val="2A7F8F"/>
                </a:solidFill>
                <a:latin typeface="Arial"/>
              </a:rPr>
              <a:t>•  </a:t>
            </a:r>
            <a:r>
              <a:rPr sz="1600">
                <a:solidFill>
                  <a:srgbClr val="1F2933"/>
                </a:solidFill>
                <a:latin typeface="Arial"/>
              </a:rPr>
              <a:t>Duplicados, referencias con espacios o guiones, montos distintos, partidas en tránsito y notas del banco.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 b="1">
                <a:solidFill>
                  <a:srgbClr val="2A7F8F"/>
                </a:solidFill>
                <a:latin typeface="Arial"/>
              </a:rPr>
              <a:t>•  </a:t>
            </a:r>
            <a:r>
              <a:rPr sz="1600">
                <a:solidFill>
                  <a:srgbClr val="1F2933"/>
                </a:solidFill>
                <a:latin typeface="Arial"/>
              </a:rPr>
              <a:t>El riesgo no es cruzar datos: es perder una excepción entre 240 filas.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 b="1">
                <a:solidFill>
                  <a:srgbClr val="2A7F8F"/>
                </a:solidFill>
                <a:latin typeface="Arial"/>
              </a:rPr>
              <a:t>•  </a:t>
            </a:r>
            <a:r>
              <a:rPr sz="1600">
                <a:solidFill>
                  <a:srgbClr val="1F2933"/>
                </a:solidFill>
                <a:latin typeface="Arial"/>
              </a:rPr>
              <a:t>Una diferencia no explicada puede terminar en un ajuste contable equivocado.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691640"/>
            <a:ext cx="4709160" cy="1051560"/>
          </a:xfrm>
          <a:prstGeom prst="roundRect">
            <a:avLst/>
          </a:prstGeom>
          <a:solidFill>
            <a:srgbClr val="FFF8E6"/>
          </a:solidFill>
          <a:ln w="12700">
            <a:solidFill>
              <a:srgbClr val="E8D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1819656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324F"/>
                </a:solidFill>
                <a:latin typeface="Arial"/>
              </a:rPr>
              <a:t>Duplicados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2148840"/>
            <a:ext cx="4297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F6F7F"/>
                </a:solidFill>
                <a:latin typeface="Arial"/>
              </a:rPr>
              <a:t>La misma operación en una o ambas hojas.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2898648"/>
            <a:ext cx="4709160" cy="1051560"/>
          </a:xfrm>
          <a:prstGeom prst="roundRect">
            <a:avLst/>
          </a:prstGeom>
          <a:solidFill>
            <a:srgbClr val="FFF8E6"/>
          </a:solidFill>
          <a:ln w="12700">
            <a:solidFill>
              <a:srgbClr val="E8D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3026664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324F"/>
                </a:solidFill>
                <a:latin typeface="Arial"/>
              </a:rPr>
              <a:t>Formato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3355848"/>
            <a:ext cx="4297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F6F7F"/>
                </a:solidFill>
                <a:latin typeface="Arial"/>
              </a:rPr>
              <a:t>CHQ-307 vs. CHQ - 307; ceros a la izquierda.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4105656"/>
            <a:ext cx="4709160" cy="1051560"/>
          </a:xfrm>
          <a:prstGeom prst="roundRect">
            <a:avLst/>
          </a:prstGeom>
          <a:solidFill>
            <a:srgbClr val="FFF8E6"/>
          </a:solidFill>
          <a:ln w="12700">
            <a:solidFill>
              <a:srgbClr val="E8D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3720" y="4233672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324F"/>
                </a:solidFill>
                <a:latin typeface="Arial"/>
              </a:rPr>
              <a:t>Unilaterales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4562856"/>
            <a:ext cx="4297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F6F7F"/>
                </a:solidFill>
                <a:latin typeface="Arial"/>
              </a:rPr>
              <a:t>Está en un lado y no en el otro.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544068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A7F8F"/>
                </a:solidFill>
                <a:latin typeface="Arial"/>
              </a:rPr>
              <a:t>El objetivo es priorizar la revisión, no esconder las diferencias.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09728" cy="674827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8961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C9A227"/>
                </a:solidFill>
                <a:latin typeface="Arial"/>
              </a:rPr>
              <a:t>02 / SOLUCIÓN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6324F"/>
                </a:solidFill>
                <a:latin typeface="Arial"/>
              </a:rPr>
              <a:t>Un flujo reproducible en Python y Excel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61872"/>
            <a:ext cx="128016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F6F7F"/>
                </a:solidFill>
                <a:latin typeface="Arial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46520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F6F7F"/>
                </a:solidFill>
                <a:latin typeface="Arial"/>
              </a:rPr>
              <a:t>Kelvis Samir Copete Córdoba · Portafolio contable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91640"/>
            <a:ext cx="257860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578608" cy="82296"/>
          </a:xfrm>
          <a:prstGeom prst="rect">
            <a:avLst/>
          </a:prstGeom>
          <a:solidFill>
            <a:srgbClr val="2A7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874519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C9A227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24028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6324F"/>
                </a:solidFill>
                <a:latin typeface="Arial"/>
              </a:rPr>
              <a:t>Leer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65176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F6F7F"/>
                </a:solidFill>
                <a:latin typeface="Arial"/>
              </a:rPr>
              <a:t>Libro auxiliar y extracto desde Excel.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01568" y="1691640"/>
            <a:ext cx="257860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2578608" cy="82296"/>
          </a:xfrm>
          <a:prstGeom prst="rect">
            <a:avLst/>
          </a:prstGeom>
          <a:solidFill>
            <a:srgbClr val="2A7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1874519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C9A227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24028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6324F"/>
                </a:solidFill>
                <a:latin typeface="Arial"/>
              </a:rPr>
              <a:t>Normalizar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65176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F6F7F"/>
                </a:solidFill>
                <a:latin typeface="Arial"/>
              </a:rPr>
              <a:t>Referencias: strip, mayúsculas y guiones.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1691640"/>
            <a:ext cx="257860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91640"/>
            <a:ext cx="2578608" cy="82296"/>
          </a:xfrm>
          <a:prstGeom prst="rect">
            <a:avLst/>
          </a:prstGeom>
          <a:solidFill>
            <a:srgbClr val="2A7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59" y="1874519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C9A227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224028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6324F"/>
                </a:solidFill>
                <a:latin typeface="Arial"/>
              </a:rPr>
              <a:t>Cruzar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265176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F6F7F"/>
                </a:solidFill>
                <a:latin typeface="Arial"/>
              </a:rPr>
              <a:t>Duplicados por hoja y merge outer.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87967" y="1691640"/>
            <a:ext cx="257860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87967" y="1691640"/>
            <a:ext cx="2578608" cy="82296"/>
          </a:xfrm>
          <a:prstGeom prst="rect">
            <a:avLst/>
          </a:prstGeom>
          <a:solidFill>
            <a:srgbClr val="2A7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59" y="1874519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C9A227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59" y="224028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6324F"/>
                </a:solidFill>
                <a:latin typeface="Arial"/>
              </a:rPr>
              <a:t>Reportar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59" y="265176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F6F7F"/>
                </a:solidFill>
                <a:latin typeface="Arial"/>
              </a:rPr>
              <a:t>Detalle, resumen, sospechosas y sin contrapartida.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977639"/>
            <a:ext cx="10835640" cy="868680"/>
          </a:xfrm>
          <a:prstGeom prst="round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4160520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6324F"/>
                </a:solidFill>
                <a:latin typeface="Arial"/>
              </a:rPr>
              <a:t>Python · pandas · openpyxl · Git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074920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2A7F8F"/>
                </a:solidFill>
                <a:latin typeface="Arial"/>
              </a:rPr>
              <a:t>•  </a:t>
            </a:r>
            <a:r>
              <a:rPr sz="1300">
                <a:solidFill>
                  <a:srgbClr val="1F2933"/>
                </a:solidFill>
                <a:latin typeface="Arial"/>
              </a:rPr>
              <a:t>El reporte tiene 4 hojas y deja explícito el estado de cada transacción.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2A7F8F"/>
                </a:solidFill>
                <a:latin typeface="Arial"/>
              </a:rPr>
              <a:t>•  </a:t>
            </a:r>
            <a:r>
              <a:rPr sz="1300">
                <a:solidFill>
                  <a:srgbClr val="1F2933"/>
                </a:solidFill>
                <a:latin typeface="Arial"/>
              </a:rPr>
              <a:t>La decisión final sigue siendo humana: el script detecta y documenta, no corrige solo.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09728" cy="674827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8961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C9A227"/>
                </a:solidFill>
                <a:latin typeface="Arial"/>
              </a:rPr>
              <a:t>03 /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6324F"/>
                </a:solidFill>
                <a:latin typeface="Arial"/>
              </a:rPr>
              <a:t>El reporte separa las excepciones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61872"/>
            <a:ext cx="128016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F6F7F"/>
                </a:solidFill>
                <a:latin typeface="Arial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46520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F6F7F"/>
                </a:solidFill>
                <a:latin typeface="Arial"/>
              </a:rPr>
              <a:t>Kelvis Samir Copete Córdoba · Portafolio contable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00200"/>
            <a:ext cx="2514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00200"/>
            <a:ext cx="64008" cy="1325880"/>
          </a:xfrm>
          <a:prstGeom prst="rect">
            <a:avLst/>
          </a:prstGeom>
          <a:solidFill>
            <a:srgbClr val="1F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764792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7A5A"/>
                </a:solidFill>
                <a:latin typeface="Arial"/>
              </a:rPr>
              <a:t>96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3500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5F6F7F"/>
                </a:solidFill>
                <a:latin typeface="Arial"/>
              </a:rPr>
              <a:t>CONCILIADAS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60604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6F7F"/>
                </a:solidFill>
                <a:latin typeface="Arial"/>
              </a:rPr>
              <a:t>Referencia y monto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0128" y="1600200"/>
            <a:ext cx="2514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10128" y="1600200"/>
            <a:ext cx="64008" cy="1325880"/>
          </a:xfrm>
          <a:prstGeom prst="rect">
            <a:avLst/>
          </a:prstGeom>
          <a:solidFill>
            <a:srgbClr val="2A7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11296" y="1764792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A7F8F"/>
                </a:solidFill>
                <a:latin typeface="Arial"/>
              </a:rPr>
              <a:t>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1296" y="23500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5F6F7F"/>
                </a:solidFill>
                <a:latin typeface="Arial"/>
              </a:rPr>
              <a:t>PARTIDAS EN TRÁNSITO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1296" y="260604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6F7F"/>
                </a:solidFill>
                <a:latin typeface="Arial"/>
              </a:rPr>
              <a:t>Solo en el libro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61888" y="1600200"/>
            <a:ext cx="2514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61888" y="1600200"/>
            <a:ext cx="64008" cy="13258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63055" y="1764792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4E79"/>
                </a:solidFill>
                <a:latin typeface="Arial"/>
              </a:rPr>
              <a:t>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63055" y="23500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5F6F7F"/>
                </a:solidFill>
                <a:latin typeface="Arial"/>
              </a:rPr>
              <a:t>NOTAS NO REGISTRADAS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63055" y="260604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6F7F"/>
                </a:solidFill>
                <a:latin typeface="Arial"/>
              </a:rPr>
              <a:t>Solo en el banco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13648" y="1600200"/>
            <a:ext cx="2514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13648" y="1600200"/>
            <a:ext cx="64008" cy="13258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14816" y="1764792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C9A227"/>
                </a:solidFill>
                <a:latin typeface="Arial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14816" y="23500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5F6F7F"/>
                </a:solidFill>
                <a:latin typeface="Arial"/>
              </a:rPr>
              <a:t>DIFERENCIAS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14816" y="260604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6F7F"/>
                </a:solidFill>
                <a:latin typeface="Arial"/>
              </a:rPr>
              <a:t>Revisión humana</a:t>
            </a:r>
          </a:p>
        </p:txBody>
      </p:sp>
      <p:pic>
        <p:nvPicPr>
          <p:cNvPr id="29" name="Picture 28" descr="01-conciliacion-resum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4431" y="3127248"/>
            <a:ext cx="4683512" cy="27432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58368" y="5916168"/>
            <a:ext cx="10835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5F6F7F"/>
                </a:solidFill>
                <a:latin typeface="Arial"/>
              </a:rPr>
              <a:t>Reporte generado con datos ficticios · 152 filas en el detalle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09728" cy="674827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8961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C9A227"/>
                </a:solidFill>
                <a:latin typeface="Arial"/>
              </a:rPr>
              <a:t>04 / APRENDIZAJES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6324F"/>
                </a:solidFill>
                <a:latin typeface="Arial"/>
              </a:rPr>
              <a:t>Qué demuestra y qué falta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61872"/>
            <a:ext cx="128016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F6F7F"/>
                </a:solidFill>
                <a:latin typeface="Arial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46520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F6F7F"/>
                </a:solidFill>
                <a:latin typeface="Arial"/>
              </a:rPr>
              <a:t>Kelvis Samir Copete Córdoba · Portafolio contable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45920"/>
            <a:ext cx="34290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45920"/>
            <a:ext cx="3429000" cy="82296"/>
          </a:xfrm>
          <a:prstGeom prst="rect">
            <a:avLst/>
          </a:prstGeom>
          <a:solidFill>
            <a:srgbClr val="1F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82880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7A5A"/>
                </a:solidFill>
                <a:latin typeface="Arial"/>
              </a:rPr>
              <a:t>DISEÑO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240280"/>
            <a:ext cx="29718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1">
                <a:solidFill>
                  <a:srgbClr val="1F7A5A"/>
                </a:solidFill>
                <a:latin typeface="Arial"/>
              </a:rPr>
              <a:t>•  </a:t>
            </a:r>
            <a:r>
              <a:rPr sz="1200">
                <a:solidFill>
                  <a:srgbClr val="1F2933"/>
                </a:solidFill>
                <a:latin typeface="Arial"/>
              </a:rPr>
              <a:t>Normalizar antes del merge.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1">
                <a:solidFill>
                  <a:srgbClr val="1F7A5A"/>
                </a:solidFill>
                <a:latin typeface="Arial"/>
              </a:rPr>
              <a:t>•  </a:t>
            </a:r>
            <a:r>
              <a:rPr sz="1200">
                <a:solidFill>
                  <a:srgbClr val="1F2933"/>
                </a:solidFill>
                <a:latin typeface="Arial"/>
              </a:rPr>
              <a:t>Duplicados por hoja, no después.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1">
                <a:solidFill>
                  <a:srgbClr val="1F7A5A"/>
                </a:solidFill>
                <a:latin typeface="Arial"/>
              </a:rPr>
              <a:t>•  </a:t>
            </a:r>
            <a:r>
              <a:rPr sz="1200">
                <a:solidFill>
                  <a:srgbClr val="1F2933"/>
                </a:solidFill>
                <a:latin typeface="Arial"/>
              </a:rPr>
              <a:t>Reporte de excepciones, no solo totales.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0248" y="1645920"/>
            <a:ext cx="34290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0248" y="1645920"/>
            <a:ext cx="3429000" cy="8229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71416" y="182880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Arial"/>
              </a:rPr>
              <a:t>LÍMITES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1416" y="2240280"/>
            <a:ext cx="29718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1">
                <a:solidFill>
                  <a:srgbClr val="C9A227"/>
                </a:solidFill>
                <a:latin typeface="Arial"/>
              </a:rPr>
              <a:t>•  </a:t>
            </a:r>
            <a:r>
              <a:rPr sz="1200">
                <a:solidFill>
                  <a:srgbClr val="1F2933"/>
                </a:solidFill>
                <a:latin typeface="Arial"/>
              </a:rPr>
              <a:t>No corrige solo: reporta.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1">
                <a:solidFill>
                  <a:srgbClr val="C9A227"/>
                </a:solidFill>
                <a:latin typeface="Arial"/>
              </a:rPr>
              <a:t>•  </a:t>
            </a:r>
            <a:r>
              <a:rPr sz="1200">
                <a:solidFill>
                  <a:srgbClr val="1F2933"/>
                </a:solidFill>
                <a:latin typeface="Arial"/>
              </a:rPr>
              <a:t>2 referencias inválidas no se detectan.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1">
                <a:solidFill>
                  <a:srgbClr val="C9A227"/>
                </a:solidFill>
                <a:latin typeface="Arial"/>
              </a:rPr>
              <a:t>•  </a:t>
            </a:r>
            <a:r>
              <a:rPr sz="1200">
                <a:solidFill>
                  <a:srgbClr val="1F2933"/>
                </a:solidFill>
                <a:latin typeface="Arial"/>
              </a:rPr>
              <a:t>No mide todavía el tiempo manual.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82128" y="1645920"/>
            <a:ext cx="34290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82128" y="1645920"/>
            <a:ext cx="3429000" cy="82296"/>
          </a:xfrm>
          <a:prstGeom prst="rect">
            <a:avLst/>
          </a:prstGeom>
          <a:solidFill>
            <a:srgbClr val="2A7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83296" y="182880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A7F8F"/>
                </a:solidFill>
                <a:latin typeface="Arial"/>
              </a:rPr>
              <a:t>SIGUIENTE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240280"/>
            <a:ext cx="29718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1">
                <a:solidFill>
                  <a:srgbClr val="2A7F8F"/>
                </a:solidFill>
                <a:latin typeface="Arial"/>
              </a:rPr>
              <a:t>•  </a:t>
            </a:r>
            <a:r>
              <a:rPr sz="1200">
                <a:solidFill>
                  <a:srgbClr val="1F2933"/>
                </a:solidFill>
                <a:latin typeface="Arial"/>
              </a:rPr>
              <a:t>Video de 2 minutos.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1">
                <a:solidFill>
                  <a:srgbClr val="2A7F8F"/>
                </a:solidFill>
                <a:latin typeface="Arial"/>
              </a:rPr>
              <a:t>•  </a:t>
            </a:r>
            <a:r>
              <a:rPr sz="1200">
                <a:solidFill>
                  <a:srgbClr val="1F2933"/>
                </a:solidFill>
                <a:latin typeface="Arial"/>
              </a:rPr>
              <a:t>Medir tiempo de revisión.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1">
                <a:solidFill>
                  <a:srgbClr val="2A7F8F"/>
                </a:solidFill>
                <a:latin typeface="Arial"/>
              </a:rPr>
              <a:t>•  </a:t>
            </a:r>
            <a:r>
              <a:rPr sz="1200">
                <a:solidFill>
                  <a:srgbClr val="1F2933"/>
                </a:solidFill>
                <a:latin typeface="Arial"/>
              </a:rPr>
              <a:t>Agregar tolerancia de decimales.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05332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A7F8F"/>
                </a:solidFill>
                <a:latin typeface="Arial"/>
              </a:rPr>
              <a:t>github.com/Samircopete12/conciliacion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